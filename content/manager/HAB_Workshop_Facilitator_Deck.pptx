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341"/>
                </a:solidFill>
              </a:rPr>
              <a:t>HAB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85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WORKSHOP KICKOFF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Welcome to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 Sales Operating System.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uncertainty to certainty. From script to instinct. From advisor to closer.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68335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BY HEATH BLAKE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90 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cover before you commit to installing the system.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3957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3957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sales is not what you've been told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424160" y="23957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986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28986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8-step process + L.A.S.T. recovery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424160" y="28986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0" y="340156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KPIs, Trust Triangle, mastery ladder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24160" y="3401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39044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ROLLOUT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390448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plan: Stabilize → Master → Cement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424160" y="39044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1560" y="44074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0" y="440740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Coach / Advisor / Heath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424160" y="44074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51560" y="4910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COMMITMENT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114800" y="491032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asks of you. What you get back.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24160" y="49103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394960"/>
            <a:ext cx="365760" cy="36576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51560" y="541324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+ NEXT STEPS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114800" y="5413248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discussion. Decision.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424160" y="54132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is not persuasion.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is the systematic reduction of uncertainty.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64240" cy="1280160"/>
          </a:xfrm>
          <a:prstGeom prst="rect">
            <a:avLst/>
          </a:prstGeom>
          <a:solidFill>
            <a:srgbClr val="FAF4E4"/>
          </a:solidFill>
          <a:ln w="12700">
            <a:solidFill>
              <a:srgbClr val="FAF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91440" cy="12801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346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don't sell repairs. We manufacture certainty —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certainty buys repairs by itself.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35204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89120"/>
            <a:ext cx="3520440" cy="45720"/>
          </a:xfrm>
          <a:prstGeom prst="rect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7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doesn't know if the noise is dangerous, if you'll be honest, or what's wrong with their car.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4389120"/>
            <a:ext cx="35204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4389120"/>
            <a:ext cx="3520440" cy="45720"/>
          </a:xfrm>
          <a:prstGeom prst="rect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7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4846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experiences with shops have trained them to expect to be taken advantage of.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4389120"/>
            <a:ext cx="35204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4389120"/>
            <a:ext cx="3520440" cy="45720"/>
          </a:xfrm>
          <a:prstGeom prst="rect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7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walk in armored — every word you say is filtered through suspicion.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CERTAINTY ARC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TAKING THE CUSTOMER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 → Confident in 8 steps.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step removes one specific kind of uncertainty.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200400" cy="2926080"/>
          </a:xfrm>
          <a:prstGeom prst="rect">
            <a:avLst/>
          </a:prstGeom>
          <a:solidFill>
            <a:srgbClr val="FBE7E5"/>
          </a:solidFill>
          <a:ln w="25400">
            <a:solidFill>
              <a:srgbClr val="B73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B7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ENTERS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Fearful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Defensive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11480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12064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2648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3232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35240" y="4389120"/>
            <a:ext cx="457200" cy="457200"/>
          </a:xfrm>
          <a:prstGeom prst="ellipse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937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STEPS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412480" y="2926080"/>
            <a:ext cx="3200400" cy="2926080"/>
          </a:xfrm>
          <a:prstGeom prst="rect">
            <a:avLst/>
          </a:prstGeom>
          <a:solidFill>
            <a:srgbClr val="E7F2E8"/>
          </a:solidFill>
          <a:ln w="25400">
            <a:solidFill>
              <a:srgbClr val="2F7D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F7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LEAVES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1248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Educated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841248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41248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customers come back. They refer their friends. They never haggle.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02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OBJECTIVES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move serves one of these.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behavior doesn't serve one of the six, it's waste motion. Coach it out.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657600" cy="146304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3657600" cy="54864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friend. Become the human they trust before they trust the shop.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743200"/>
            <a:ext cx="3657600" cy="146304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2743200"/>
            <a:ext cx="3657600" cy="54864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53712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53712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CUSTODY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53712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in our bay is the only car we can save.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2743200"/>
            <a:ext cx="3657600" cy="146304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2743200"/>
            <a:ext cx="3657600" cy="54864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75904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75904" y="3520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from vehicle. Emotional distance enables logical decisions.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3657600" cy="146304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434840"/>
            <a:ext cx="3657600" cy="54864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HEALTH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1520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Complete, honest, documented picture. The DVI is the X-ray.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0832" y="4434840"/>
            <a:ext cx="3657600" cy="146304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0832" y="4434840"/>
            <a:ext cx="3657600" cy="54864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53712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53712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informed customer authorizes. A confused one defers.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93024" y="4434840"/>
            <a:ext cx="3657600" cy="146304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4434840"/>
            <a:ext cx="3657600" cy="54864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75904" y="4572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06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75904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75904" y="5212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and reliable. The repair is the receipt. The relationship is the asset.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8-STEP SALES PROCESS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in order. Never skip.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step removes one specific uncertainty. The flow is the system.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1325880" cy="146304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friend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65960" y="2834640"/>
            <a:ext cx="1325880" cy="146304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6596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authority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2834640"/>
            <a:ext cx="1325880" cy="146304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car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2834640"/>
            <a:ext cx="1325880" cy="146304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0060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 = X-ray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2834640"/>
            <a:ext cx="1325880" cy="1463040"/>
          </a:xfrm>
          <a:prstGeom prst="rect">
            <a:avLst/>
          </a:prstGeom>
          <a:solidFill>
            <a:srgbClr val="2C4A75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STRATEGIZE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bases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635240" y="2834640"/>
            <a:ext cx="1325880" cy="1463040"/>
          </a:xfrm>
          <a:prstGeom prst="rect">
            <a:avLst/>
          </a:prstGeom>
          <a:solidFill>
            <a:srgbClr val="2C4A75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3524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63524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3524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ISO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052560" y="2834640"/>
            <a:ext cx="1325880" cy="1463040"/>
          </a:xfrm>
          <a:prstGeom prst="rect">
            <a:avLst/>
          </a:prstGeom>
          <a:solidFill>
            <a:srgbClr val="2C4A75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256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5256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05256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05256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boss battles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469880" y="2834640"/>
            <a:ext cx="1325880" cy="1463040"/>
          </a:xfrm>
          <a:prstGeom prst="rect">
            <a:avLst/>
          </a:prstGeom>
          <a:solidFill>
            <a:srgbClr val="2C4A75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469880" y="2834640"/>
            <a:ext cx="1325880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46988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69880" y="32918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469880" y="3794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direction-facing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AUTHORIZED &amp; LOYAL CUSTOMER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48640" y="5212080"/>
            <a:ext cx="73152" cy="91440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52852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TRUTH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7240" y="555955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Skipping a step doesn't save time — it forces a re-do later in the call, or kills the sale. The order is non-negotiable.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SCORECARD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= PERMISSION TO ADVISE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Triangle.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customer silently grades the advisor on three traits.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520440" cy="3291840"/>
          </a:xfrm>
          <a:prstGeom prst="rect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80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4617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 they know what they're doing?"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5840" y="5166360"/>
            <a:ext cx="260604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57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certifications · equipment · the tour · technical fluency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743200"/>
            <a:ext cx="3520440" cy="3291840"/>
          </a:xfrm>
          <a:prstGeom prst="rect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926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4297680" y="4160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4617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"Are they hiding anything?"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5166360"/>
            <a:ext cx="260604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5257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 with photos · co-review · written estimates · honest defer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743200"/>
            <a:ext cx="3520440" cy="3291840"/>
          </a:xfrm>
          <a:prstGeom prst="rect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292608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800" dirty="0"/>
          </a:p>
        </p:txBody>
      </p:sp>
      <p:sp>
        <p:nvSpPr>
          <p:cNvPr id="26" name="Text 24"/>
          <p:cNvSpPr/>
          <p:nvPr/>
        </p:nvSpPr>
        <p:spPr>
          <a:xfrm>
            <a:off x="8046720" y="4160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183880" y="46177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"Would they do this for family?"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5166360"/>
            <a:ext cx="260604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52578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· loaners · Good-Good-Bad · safety-first ordering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all three and price becomes irrelevant. Lose any one and price becomes the only conversation we'll ever have.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PROMOTION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MASTERY LADDER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Promotion is not a calendar event.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levels. Observable behaviors in live calls. No tenure passes.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11064240" cy="5943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914400" cy="59436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2606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26060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scripts. Survives calls. Goal: don't lose a customer.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11064240" cy="5943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319272"/>
            <a:ext cx="914400" cy="59436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19272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331927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23360" y="3319272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scripts naturally. Books appointments without quoting.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032504"/>
            <a:ext cx="11064240" cy="5943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32504"/>
            <a:ext cx="914400" cy="59436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32504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45920" y="403250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023360" y="403250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East-West. Runs the bases. PRS by heart.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745736"/>
            <a:ext cx="11064240" cy="5943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745736"/>
            <a:ext cx="914400" cy="59436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4573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45920" y="474573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023360" y="474573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Defeats all 8 Boss Battles. Re-opens missed sales. Coaches Rookies.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458968"/>
            <a:ext cx="11064240" cy="5943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458968"/>
            <a:ext cx="914400" cy="59436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45896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645920" y="545896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23360" y="54589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ask for them by name. Trains others. Owns culture.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 KPIs WE'LL MEASURE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Wall-mounted. Updated weekly.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the only nine numbers an owner needs to know the system is working.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→ APPT 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65%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leak indicator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651760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70832" y="2651760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DELIVERY 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9432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99432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discipline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93024" y="2651760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93024" y="2651760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21624" y="2743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DVI W/ MEDIA 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21624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95%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421624" y="3429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quality gate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867912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867912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COMPLETENESS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233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77240" y="4645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M5/M6 discipline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70832" y="3867912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70832" y="3867912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9432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1ST-OBJECTION CLOSE 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99432" y="4233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60%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99432" y="4645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mastery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93024" y="3867912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93024" y="3867912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21624" y="39593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RATE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21624" y="4233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75%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8421624" y="4645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outcome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084064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8640" y="5084064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5175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MISSED-SALE RECOVERED %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5449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25%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77240" y="58613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Short-Stop effectiveness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370832" y="5084064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70832" y="5084064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99432" y="5175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99432" y="5449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bench.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4599432" y="58613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Per-advisor variance flag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193024" y="5084064"/>
            <a:ext cx="3657600" cy="105156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93024" y="5084064"/>
            <a:ext cx="91440" cy="10515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21624" y="51755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 %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21624" y="5449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80%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8421624" y="58613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outcome scoreboard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90-DAY PLAN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INSTALLED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 days. Three phases. Measurable gates.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has a single dominant goal. You don't advance until the current phase is locked.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3520440" cy="3200400"/>
          </a:xfrm>
          <a:prstGeom prst="rect">
            <a:avLst/>
          </a:prstGeom>
          <a:solidFill>
            <a:srgbClr val="14624B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STABILIZE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M1 + M2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4754880"/>
            <a:ext cx="242316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937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the bleeding on Rapport and Credibility.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0" y="2743200"/>
            <a:ext cx="3520440" cy="3200400"/>
          </a:xfrm>
          <a:prstGeom prst="rect">
            <a:avLst/>
          </a:prstGeom>
          <a:solidFill>
            <a:srgbClr val="1B3358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4297680" y="4251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M8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4754880"/>
            <a:ext cx="242316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937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every base. DVI, PRS, Bosses, Close.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2743200"/>
            <a:ext cx="3520440" cy="3200400"/>
          </a:xfrm>
          <a:prstGeom prst="rect">
            <a:avLst/>
          </a:prstGeom>
          <a:solidFill>
            <a:srgbClr val="5E3084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33832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CEMENT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8046720" y="4251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 + Culture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95360" y="4754880"/>
            <a:ext cx="242316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493776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Recovery, certs, first Champion. Self-sustaining.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73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gate fails, the answer is always: go back and master the earlier step. Never advance on hope.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DAYS 1–30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 + M1 Rapport + M2 Credibility.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leaks fixed = revenue moves before you've taught a single PRS.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+ DRILLS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GATE TO ADVANCE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11064240" cy="0"/>
          </a:xfrm>
          <a:prstGeom prst="line">
            <a:avLst/>
          </a:prstGeom>
          <a:noFill/>
          <a:ln w="19050">
            <a:solidFill>
              <a:srgbClr val="C8A7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chapter. Read aloud. Sign the HAB Oath.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KPIs documented. Roles on wall.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22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8221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(Rapport) — deep. Daily Smile / Pause / Name×3 drills.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3822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2-Ring ≥ 95%. Greet-to-Tour improving.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62272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354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453542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(Credibility) — deep. Coach walks tour with every advisor.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453542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Delivery = 100%. Tour→DVI ≥ 90%.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75504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4865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524865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 certification: Module 1 + 2. Boss preview (1 &amp; 2).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52486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advisors Level 2 certified. Phase 1 KPIs all Green.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FBE7E5"/>
          </a:solidFill>
          <a:ln w="12700">
            <a:solidFill>
              <a:srgbClr val="FBE7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035040"/>
            <a:ext cx="73152" cy="457200"/>
          </a:xfrm>
          <a:prstGeom prst="rect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Do not advance to Phase 2 until every Phase-1 KPI is Green for two consecutive weeks.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DAYS 31–60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 through M8. Install the technical mechanics.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Phase 2, every advisor can run a full workflow unsupervised.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+ DRILLS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GATE TO ADVANCE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11064240" cy="0"/>
          </a:xfrm>
          <a:prstGeom prst="line">
            <a:avLst/>
          </a:prstGeom>
          <a:noFill/>
          <a:ln w="19050">
            <a:solidFill>
              <a:srgbClr val="C8A7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(Custody) + M4 (Inspect). DVI media audit 2/advisor/day.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Inquiry→RO ≥ 70%. DVI Media ≥ 95%.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22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8221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(Strategize) — Diamond. Anti-kitchen-sink intervention.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3822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Base-Order ≥ 90%. Mixing ≤ 5%.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62272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354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453542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 (Present) + Water Pump worked example. Investment→Coverage drill.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453542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Present→Auth ≥ 65%. PRS = 100%.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75504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4865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524865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(Objections) + M8 (Close). Daily Boss Rush. Direction-Facing drill.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52486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1st-Obj ≥ 55%. Auth ≥ 70%. 8/8 Bosses defeated.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solidFill>
            <a:srgbClr val="FAF4E4"/>
          </a:solidFill>
          <a:ln w="12700">
            <a:solidFill>
              <a:srgbClr val="FAF4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6035040"/>
            <a:ext cx="73152" cy="45720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6035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 — Run the Boss Rush every single morning of Phase 2. 15 min. All hands. Standing.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DAYS 61–90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L.A.S.T. Recovery + culture + first Champion.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the system self-sustaining. Survives a coach being out for a week.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+ DRILLS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GATE TO ADVANCE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11064240" cy="0"/>
          </a:xfrm>
          <a:prstGeom prst="line">
            <a:avLst/>
          </a:prstGeom>
          <a:noFill/>
          <a:ln w="19050">
            <a:solidFill>
              <a:srgbClr val="C8A7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08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1089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(L.A.S.T. Recovery) deep. Silence Tolerance + BUT Buster drills.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31089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Time-to-Acknowledge ≤ 1 hr.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2219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82219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Full-workflow live ride-alongs. Complete 8-step scorecard.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0" y="3822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advisor 3+/5 all steps. Auth ≥ 75%.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462272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3542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453542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(Pro) certification for everyone ready. Boss Rush final exam.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453542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50% of advisors at Level 4.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175504"/>
            <a:ext cx="11064240" cy="0"/>
          </a:xfrm>
          <a:prstGeom prst="line">
            <a:avLst/>
          </a:prstGeom>
          <a:noFill/>
          <a:ln w="12700">
            <a:solidFill>
              <a:srgbClr val="F0E2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24865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28800" y="524865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first Champion. Team retrospective. Cement compounding cycle.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98080" y="524865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Day-90 KPI snapshot beats Day-1 on every metric.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30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90 isn't the finish line. It's the moment the system becomes self-sustaining.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RHYTHM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CADENCE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rituals. Defended like payroll.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 the rhythm one week and the install slows. Miss it two weeks and the install dies.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914400" cy="50292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606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standup. Last week's KPIs. This week's focus metric.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0" y="26060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914400" cy="50292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246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Rush drill. 15 min. Random objections, scored counters.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0" y="3246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914400" cy="50292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862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3886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Ride-along day. One advisor, full workflow audited live.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0" y="3886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914400" cy="50292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5262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4592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audit. 2 recordings/advisor against focus metric.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166360"/>
            <a:ext cx="914400" cy="50292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166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45920" y="5166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1:1s. 15 min/advisor. Praise specific behavior. One improvement.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05840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× team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daily 15-min drills + end-of-shift advisor self-audits + Friday owner KPI update.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WHAT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ONE INSTALL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everyone owns the rollout, no one owns it.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Assign by name on Day 1. Post the names on the wall.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3520440" cy="64008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GM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MIN/DAY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scoreboard. Removes blockers. Defends the cadence from operational chaos.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846320"/>
            <a:ext cx="278892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37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KEYSTONE BEHAVIOR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212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up to the Monday standup. Every week. Period.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260604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2606040"/>
            <a:ext cx="3520440" cy="640080"/>
          </a:xfrm>
          <a:prstGeom prst="rect">
            <a:avLst/>
          </a:prstGeom>
          <a:solidFill>
            <a:srgbClr val="A78743"/>
          </a:solidFill>
          <a:ln w="12700">
            <a:solidFill>
              <a:srgbClr val="A787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651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/ SM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97680" y="2971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HOURS/DAY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26280" y="3383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2628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drills. The ride-alongs. The 1:1s. Calibration of mastery checks.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846320"/>
            <a:ext cx="278892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937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KEYSTONE BEHAVIOR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5212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at least one call per advisor per day. No skips.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46720" y="260604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0" y="2606040"/>
            <a:ext cx="3520440" cy="640080"/>
          </a:xfrm>
          <a:prstGeom prst="rect">
            <a:avLst/>
          </a:prstGeom>
          <a:solidFill>
            <a:srgbClr val="14624B"/>
          </a:solidFill>
          <a:ln w="12700">
            <a:solidFill>
              <a:srgbClr val="1462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0" y="2651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46720" y="2971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 SELF + REPS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75320" y="338328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75320" y="36118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reps. The self-audit worksheet. The mastery gate behaviors.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4846320"/>
            <a:ext cx="278892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493776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KEYSTONE BEHAVIOR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75320" y="5212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out the self-audit worksheet every shift. Every shift.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WITH HAB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Materials, training, coaching, measurement.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is HAB-branded, version-controlled, and updated as the system evolves.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109728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06040"/>
            <a:ext cx="91440" cy="109728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Book + Coach's Book (PDF + HTML)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Sales OS in book form. One module per week.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2606040"/>
            <a:ext cx="5486400" cy="109728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2606040"/>
            <a:ext cx="91440" cy="109728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28232" y="2926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9-KPI weekly tracker (Google Sheet)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28232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Wall-mounted. Color-coded. Coach updates Friday PM.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5486400" cy="109728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40480"/>
            <a:ext cx="91440" cy="109728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6-Poster Set (Trust Triangle, Diamond, VHD…)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11×17 or 18×24. Visible on the shop floor.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99632" y="3840480"/>
            <a:ext cx="5486400" cy="109728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99632" y="3840480"/>
            <a:ext cx="91440" cy="109728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28232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&amp; Scorecard Pack (PDF)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28232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Self-audits, ride-along scorecards, recovery reports.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074920"/>
            <a:ext cx="5486400" cy="109728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074920"/>
            <a:ext cx="91440" cy="109728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" y="5394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Roleplay scenarios (JSON corpus)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724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every Boss + every base + every L.A.S.T. counter.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99632" y="5074920"/>
            <a:ext cx="5486400" cy="109728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5074920"/>
            <a:ext cx="91440" cy="109728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5166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28232" y="5394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check-ins with Heath until Day-90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28232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here. Live calls, ride-alongs, escalations.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THESE OUT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ANTI-PATTERNS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failures we'll prevent.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the recurring losses we see across every shop. Catch them early and aggressively.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43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 prices on the phone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64408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644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2644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shop tour for first-timers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85616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85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785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Kitchen-sinking — dumping all findings into one call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068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3068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Risk in the PRS — "Photo + Solution" without 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28032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280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4828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between Investment and Coverage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743200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743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27432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Arguing with objections instead of acknowledging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3264408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2644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75120" y="32644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recoveries — "we'll get back to you"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72200" y="3785616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378561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675120" y="3785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word "policy" during a recovery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172200" y="4306824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43068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75120" y="430682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Tenure-based promotion (not evidence-based)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4828032"/>
            <a:ext cx="5440680" cy="384048"/>
          </a:xfrm>
          <a:prstGeom prst="rect">
            <a:avLst/>
          </a:prstGeom>
          <a:solidFill>
            <a:srgbClr val="FBE7E5"/>
          </a:solidFill>
          <a:ln w="6350">
            <a:solidFill>
              <a:srgbClr val="B733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482803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7332A"/>
                </a:solidFill>
              </a:rPr>
              <a:t>✕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75120" y="48280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Softening Red findings to Yellow because it feels easier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PREVIEW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BOSS BATTLES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advisor will fight these.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has a documented tell, listen-first protocol, and tested counter. Daily drill = mastery.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42616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606040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"I'll think about it / sell the car"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0" y="260604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Cost-of-replacement reframe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035808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"Price is too high / chain is cheaper"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299923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Anti-Lowest-Price Brag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392424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429000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29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392424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don't have the money"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955280" y="339242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Money Reframe → financing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785616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22192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785616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"Talk to my spouse"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55280" y="378561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Three-Way Bypass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78808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215384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153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178808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"Just safety / I'll wait on the rest"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955280" y="417880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reframe + schedule defer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608576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6085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572000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"You're always selling"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55280" y="45720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 Obligation Frame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4965192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5001768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5001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05840" y="4965192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need my car today"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955280" y="49651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Solve logistics first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48640" y="5358384"/>
            <a:ext cx="11064240" cy="0"/>
          </a:xfrm>
          <a:prstGeom prst="line">
            <a:avLst/>
          </a:prstGeom>
          <a:noFill/>
          <a:ln w="6350">
            <a:solidFill>
              <a:srgbClr val="F0E2B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394960"/>
            <a:ext cx="320040" cy="320040"/>
          </a:xfrm>
          <a:prstGeom prst="ellipse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394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05840" y="5358384"/>
            <a:ext cx="6858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"Parts &amp; labor breakdown / come back later"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955280" y="535838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Protection-program reframe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Boss Rush in Phase 2 = every advisor counters every Boss in their sleep by Week 8.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CONCEPT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HEALTH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question. Three answers.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operate within manufacturer specifications? The answer drives the color drives the conversation.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64240" cy="384048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974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"Does it operate within manufacturer specifications?"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46120"/>
            <a:ext cx="35204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2F7D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246120"/>
            <a:ext cx="3520440" cy="457200"/>
          </a:xfrm>
          <a:prstGeom prst="rect">
            <a:avLst/>
          </a:prstGeom>
          <a:solidFill>
            <a:srgbClr val="2F7D3A"/>
          </a:solidFill>
          <a:ln w="12700">
            <a:solidFill>
              <a:srgbClr val="2F7D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HEALTHY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3520440" cy="2743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IN SPEC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Operating to spec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Functioning normally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readings in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concerns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5532120"/>
            <a:ext cx="3246120" cy="640080"/>
          </a:xfrm>
          <a:prstGeom prst="rect">
            <a:avLst/>
          </a:prstGeom>
          <a:solidFill>
            <a:srgbClr val="FAF4E4"/>
          </a:solidFill>
          <a:ln w="12700">
            <a:solidFill>
              <a:srgbClr val="FAF4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F7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Notify customer it's healthy.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7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Primes Good-Good-Bad.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3246120"/>
            <a:ext cx="35204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A787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246120"/>
            <a:ext cx="3520440" cy="457200"/>
          </a:xfrm>
          <a:prstGeom prst="rect">
            <a:avLst/>
          </a:prstGeom>
          <a:solidFill>
            <a:srgbClr val="A78743"/>
          </a:solidFill>
          <a:ln w="12700">
            <a:solidFill>
              <a:srgbClr val="A787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· WATCH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0" y="3703320"/>
            <a:ext cx="3520440" cy="2743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FLAG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spec, worth attention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8056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Looks off, still in spec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Approaching service interval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Preventative opportunity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5532120"/>
            <a:ext cx="3246120" cy="640080"/>
          </a:xfrm>
          <a:prstGeom prst="rect">
            <a:avLst/>
          </a:prstGeom>
          <a:solidFill>
            <a:srgbClr val="FAF4E4"/>
          </a:solidFill>
          <a:ln w="12700">
            <a:solidFill>
              <a:srgbClr val="FAF4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at next visit,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A787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 maintenance.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46720" y="3246120"/>
            <a:ext cx="352044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B733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3246120"/>
            <a:ext cx="3520440" cy="457200"/>
          </a:xfrm>
          <a:prstGeom prst="rect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32461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REPAIR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046720" y="3703320"/>
            <a:ext cx="3520440" cy="2743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0" y="3703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OUT OF SPEC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not meet spec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2960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 of manufacturer spec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Regardless of component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(stereo button or brake pad)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183880" y="5532120"/>
            <a:ext cx="3246120" cy="640080"/>
          </a:xfrm>
          <a:prstGeom prst="rect">
            <a:avLst/>
          </a:prstGeom>
          <a:solidFill>
            <a:srgbClr val="FAF4E4"/>
          </a:solidFill>
          <a:ln w="12700">
            <a:solidFill>
              <a:srgbClr val="FAF4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0" y="553212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73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 on 1st base.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B733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PRS. Authorize.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CONCEPT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BASEBALL DIAMOND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the bases. Touch every one. In order.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#1 reason customers say "let me think about it" isn't price — it's overwhelm. Base order prevents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148840" cy="228600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743200"/>
            <a:ext cx="2148840" cy="9144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BASE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ISOLATE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concern. Sell first.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07208" y="2743200"/>
            <a:ext cx="2148840" cy="228600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07208" y="2743200"/>
            <a:ext cx="2148840" cy="9144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BASE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07208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944368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findings. Safety-critical.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65776" y="2743200"/>
            <a:ext cx="2148840" cy="228600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65776" y="2743200"/>
            <a:ext cx="2148840" cy="9144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STOP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65776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202936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sale re-open.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24344" y="2743200"/>
            <a:ext cx="2148840" cy="228600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24344" y="2743200"/>
            <a:ext cx="2148840" cy="9144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344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24344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461504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items.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82912" y="2743200"/>
            <a:ext cx="2148840" cy="2286000"/>
          </a:xfrm>
          <a:prstGeom prst="rect">
            <a:avLst/>
          </a:prstGeom>
          <a:solidFill>
            <a:srgbClr val="FAF4E4"/>
          </a:solidFill>
          <a:ln w="12700">
            <a:solidFill>
              <a:srgbClr val="F0E2B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82912" y="2743200"/>
            <a:ext cx="2148840" cy="9144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82912" y="2971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82912" y="33375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REINFORCE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720072" y="4206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visit. Close the loop.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solidFill>
            <a:srgbClr val="FBE7E5"/>
          </a:solidFill>
          <a:ln w="12700">
            <a:solidFill>
              <a:srgbClr val="FBE7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5440680"/>
            <a:ext cx="73152" cy="914400"/>
          </a:xfrm>
          <a:prstGeom prst="rect">
            <a:avLst/>
          </a:prstGeom>
          <a:solidFill>
            <a:srgbClr val="B7332A"/>
          </a:solidFill>
          <a:ln w="12700">
            <a:solidFill>
              <a:srgbClr val="B733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486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— Do NOT mix bases on the same call.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77240" y="577900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Kitchen-sinking destroys trust and halves authorization. Hang up between bases. Re-call for the next.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· THE RECOVERY COMBO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L.A.S.T. RECOVERY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complaints into loyalty.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well-recovered customer ends up MORE loyal than one who never had a problem at all.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2697480" cy="3291840"/>
          </a:xfrm>
          <a:prstGeom prst="rect">
            <a:avLst/>
          </a:prstGeom>
          <a:solidFill>
            <a:srgbClr val="5E3084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110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silence is medicine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4937760"/>
            <a:ext cx="178308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074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interrupting.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defending yet.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2743200"/>
            <a:ext cx="2697480" cy="3291840"/>
          </a:xfrm>
          <a:prstGeom prst="rect">
            <a:avLst/>
          </a:prstGeom>
          <a:solidFill>
            <a:srgbClr val="5E3084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8346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1000" dirty="0"/>
          </a:p>
        </p:txBody>
      </p:sp>
      <p:sp>
        <p:nvSpPr>
          <p:cNvPr id="20" name="Text 18"/>
          <p:cNvSpPr/>
          <p:nvPr/>
        </p:nvSpPr>
        <p:spPr>
          <a:xfrm>
            <a:off x="338328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83280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 the emotion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4937760"/>
            <a:ext cx="178308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5074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first, not fault.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"but".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743200"/>
            <a:ext cx="2697480" cy="3291840"/>
          </a:xfrm>
          <a:prstGeom prst="rect">
            <a:avLst/>
          </a:prstGeom>
          <a:solidFill>
            <a:srgbClr val="5E3084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8346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1000" dirty="0"/>
          </a:p>
        </p:txBody>
      </p:sp>
      <p:sp>
        <p:nvSpPr>
          <p:cNvPr id="26" name="Text 24"/>
          <p:cNvSpPr/>
          <p:nvPr/>
        </p:nvSpPr>
        <p:spPr>
          <a:xfrm>
            <a:off x="621792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17920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time-bound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75120" y="4937760"/>
            <a:ext cx="178308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5074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ownership.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call by 3pm."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52560" y="2743200"/>
            <a:ext cx="2697480" cy="3291840"/>
          </a:xfrm>
          <a:prstGeom prst="rect">
            <a:avLst/>
          </a:prstGeom>
          <a:solidFill>
            <a:srgbClr val="5E3084"/>
          </a:solidFill>
          <a:ln w="19050">
            <a:solidFill>
              <a:srgbClr val="C8A7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52560" y="2834640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1000" dirty="0"/>
          </a:p>
        </p:txBody>
      </p:sp>
      <p:sp>
        <p:nvSpPr>
          <p:cNvPr id="32" name="Text 30"/>
          <p:cNvSpPr/>
          <p:nvPr/>
        </p:nvSpPr>
        <p:spPr>
          <a:xfrm>
            <a:off x="9052560" y="4114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52560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= gift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509760" y="4937760"/>
            <a:ext cx="1783080" cy="0"/>
          </a:xfrm>
          <a:prstGeom prst="line">
            <a:avLst/>
          </a:prstGeom>
          <a:noFill/>
          <a:ln w="12700">
            <a:solidFill>
              <a:srgbClr val="C8A7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35440" y="507492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Appreciate them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chance to fix it.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E30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Acknowledge within 1 hour. Past 24 hours = Yelp review territory. Time is the enemy.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CULTURAL ANCHOR · SIGNED AT CERTIFICATION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HAB Oath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9418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 assure every customer they called the right place.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 earn the appointment instead of quoting blindly.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 run the bases in order.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 defeat the bosses with words, not arguments.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 L → A → S → T when things go wrong.</a:t>
            </a: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6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 treat every car as if it carries my own family.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I will never forget 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 · GRADUATION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LOOKS LIKE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8 true → the shop is operating on the HAB Sales OS.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to compounding mode: every new hire goes through a 30-day version of this curriculum.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743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advisor is at Level 2 minimum; at least half at Level 4 (Pro)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advisor on track for Level 5 (Champion) within 30 days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749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KPIs beat Day-1 baseline; at least 6 of 9 are Green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28853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51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drill, weekly standup, 1:1s, ride-alongs unbroken for 12 weeks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277977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7432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advisor can deliver shop tour, PRS, L.A.S.T. from memory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28269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can name each advisor's next growth step (1–8)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78561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374904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 Oath recited weekly, posted, signed by every advisor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288536"/>
            <a:ext cx="274320" cy="274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3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2519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complaint recovered well enough to produce a 5-star review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solidFill>
            <a:srgbClr val="FAF4E4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937760"/>
            <a:ext cx="73152" cy="137160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029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IT'S WORTH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" y="53492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shop that authorizes ≥75% of presented work, retains complaining customers at ≥90%, and earns ≥80% 5-star reviews. Revenue per RO climbs. Advisor turnover drops. Owner steps out of the bullpen.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36576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2341"/>
                </a:solidFill>
              </a:rPr>
              <a:t>HAB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91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59775" y="1645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MUTUAL CONTRACT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ASKS OF YOU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123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you get back.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33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a 90-day install, not a one-time training. Mutual commitment is the only path that works.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4406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3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97480"/>
            <a:ext cx="5440680" cy="548640"/>
          </a:xfrm>
          <a:prstGeom prst="rect">
            <a:avLst/>
          </a:prstGeom>
          <a:solidFill>
            <a:srgbClr val="1B3358"/>
          </a:solidFill>
          <a:ln w="12700">
            <a:solidFill>
              <a:srgbClr val="1B33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8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Coach by Day 1 — non-negotiable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31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8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the cadence: daily drills + weekly 1:1s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8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attends Monday standup every week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8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the KPI dashboard visibly on the wall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8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recording of sales calls for coaching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5760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358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5760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line on "no advance until gate passes"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697480"/>
            <a:ext cx="5440680" cy="3657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A7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2697480"/>
            <a:ext cx="5440680" cy="54864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6974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3474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6656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coaching from Heath through Day-90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curriculum, posters, trackers, AI tools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389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Ride-along audits on request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4846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L.A.S.T. recovery support for hot escalations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5303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66560" y="5303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Day-90 graduation review + compounding-mode handoff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760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75C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766560" y="5760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2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access to curriculum updates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12341"/>
          </a:solidFill>
          <a:ln w="12700">
            <a:solidFill>
              <a:srgbClr val="1123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68335" y="6547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AF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OF 25  ·  HAB SOS v1.3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2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solidFill>
            <a:srgbClr val="C8A75C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341"/>
                </a:solidFill>
              </a:rPr>
              <a:t>HAB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AUTO BUSINESS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685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spc="4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· v1.3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LET'S TALK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concerns,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next steps.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4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you're in, we sign the engagement this week and Day 1 starts Monday.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solidFill>
            <a:srgbClr val="1B3358"/>
          </a:solidFill>
          <a:ln w="12700">
            <a:solidFill>
              <a:srgbClr val="C8A7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8A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HEATH BLAKE · Healthy Auto Business · Heath@revenuenowinc.com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8A7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what's Right · Do what's Fair · Do Your Best.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Healthy Auto Business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HAB Sales OS — Workshop Facilitator Deck v1.3</dc:title>
  <dc:subject>PptxGenJS Presentation</dc:subject>
  <dc:creator>Healthy Auto Business</dc:creator>
  <cp:lastModifiedBy>Healthy Auto Business</cp:lastModifiedBy>
  <cp:revision>1</cp:revision>
  <dcterms:created xsi:type="dcterms:W3CDTF">2026-05-27T03:56:57Z</dcterms:created>
  <dcterms:modified xsi:type="dcterms:W3CDTF">2026-05-27T03:56:57Z</dcterms:modified>
</cp:coreProperties>
</file>